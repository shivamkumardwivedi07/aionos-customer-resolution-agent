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reviewers. Today I am presenting our Customer-Facing Resolution Agent for Airline Disruption. The core engineering philosophy behind this system is: LLMs are brilliant at understanding human emotion, intent, and unstructured natural language, but business decisions, monetary refunds, and compliance boundaries must be 100% deterministic. In this presentation, I will walk you through the architecture, deterministic policy engine, the three test scenarios, and how our audit trail guarantees zero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flights are cancelled or delayed, passengers are anxious and often angry. Traditional chatbots either give generic non-answers or, worse, make promises the airline cannot fulfill—such as free upgrades or immediate cash payouts. Our business objective was to build a system that can absorb emotional customer input, accurately detect complex compound intents, evaluate entitlements against strict airline policy rules, simulate authorized operational actions, and immediately escalate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architecture. Notice the strict separation of concerns. The LLM or NLU parser is only responsible for intent extraction and empathetic response formatting. It is physically impossible for the LLM to grant a refund or waive a fee on its own. The request passes through our deterministic Policy Engine, which inspects the booking status, delay hours, and loyalty tier. If permitted, the Action Engine simulates the change; if prohibited, the Escalation Engine logs an urgent supervisor ticket.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follow the data flow. When a customer sends a message, our session manager binds their profile. The message is decomposed into distinct intents. If a customer asks for a refund AND an upgrade, both are evaluated independently. The refund is approved under Section 5.1, while the upgrade is flagged as out-of-policy under Section 5.5 and escalated. The response generator then synthesizes these verified facts into a single empathetic message.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exact mathematical boundaries of our Policy Engine. Notice the rigid adherence to the brief: For Arvind's 4-hour delay, hotel accommodation is strictly denied because the policy requires a delay greater than 5 hours. For Meher's 6-hour delay, hotel is granted, but strictly for the delayed-hours window—not a full night's stay. And when Meher asks for a ₹2,000 fare waiver, because ₹2,000 exceeds the agent's ₹1,500 threshold, the system enforces supervisor escalation.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scenarios represent the core test of the assignment. In Priya's case, the agent validates that her return flight is unaffected, initiates a refund strictly to her original payment method, and refuses the business class upgrade while escalating. In Arvind's case, the agent acknowledges his missed meeting with empathy, gives meal and lounge vouchers, but correctly withholds hotel accommodation. In Meher's case, transit hotel is granted, but the ₹2,000 fare waiver is escalated because it exceeds our ₹1,500 authority.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adoption of agentic AI requires total accountability. If a reviewer asks: 'Why did the agent make this decision?', the answer is instantly available in the right-hand Inspector and the Audit Drawer. We cite the exact section number. Furthermore, our Escalation Engine actively listens for legal threats, formal regulatory complaints, and unauthorized payment methods, immediately cutting off autonomous execution and routing the ticket to specialized human desks.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subjected our agent to a battery of adversarial attacks. In every case, the deterministic guardrails held firm. When users attempt to divert funds to a third-party UPI account, the agent enforces Section 5.3. When a user asks about another passenger's flight, the privacy gateway intercepts the request. When a user threatens a lawsuit, an expedited grievance ticket is generated.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was chosen for reliability and speed. Python with FastAPI and Pydantic provides type safety and sub-millisecond rule evaluation. Our automated test suite contains 27 pytest cases verifying every single requirement and edge case in the brief. Crucially, the system operates in an offline deterministic fallback mode, meaning a reviewer can test it anywhere without needing a paid API key or network access.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built a working, explainable, and interview-ready resolution agent in under 6 hours. It proves that agentic workflows in regulated industries do not require risky black-box autonomy—they require smart LLM language comprehension backed by rock-solid deterministic business rules. Thank you, and I look forward to taking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1: TITLE &amp; EXECUTIVE SUMMARY</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AIONOS Agentic AI Factory: Customer Resolution Agent</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Production-Style Airline Disruption Agent • Pure Deterministic Policy Core</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Domain: Airline Disruption Resolution (Flight Cancellations &amp; Delays).</a:t>
            </a:r>
          </a:p>
          <a:p>
            <a:pPr>
              <a:lnSpc>
                <a:spcPct val="125000"/>
              </a:lnSpc>
              <a:spcAft>
                <a:spcPts val="1400"/>
              </a:spcAft>
              <a:defRPr sz="1300">
                <a:solidFill>
                  <a:srgbClr val="FFFFFF"/>
                </a:solidFill>
              </a:defRPr>
            </a:pPr>
            <a:r>
              <a:t>•   Core Engineering Tenet: 'LLM for language, deterministic rules for business decisions.'</a:t>
            </a:r>
          </a:p>
          <a:p>
            <a:pPr>
              <a:lnSpc>
                <a:spcPct val="125000"/>
              </a:lnSpc>
              <a:spcAft>
                <a:spcPts val="1400"/>
              </a:spcAft>
              <a:defRPr sz="1300">
                <a:solidFill>
                  <a:srgbClr val="FFFFFF"/>
                </a:solidFill>
              </a:defRPr>
            </a:pPr>
            <a:r>
              <a:t>•   Zero Hallucination: Grounded strictly in authoritative facts and policy clauses (Sections 5.1–5.5).</a:t>
            </a:r>
          </a:p>
          <a:p>
            <a:pPr>
              <a:lnSpc>
                <a:spcPct val="125000"/>
              </a:lnSpc>
              <a:spcAft>
                <a:spcPts val="1400"/>
              </a:spcAft>
              <a:defRPr sz="1300">
                <a:solidFill>
                  <a:srgbClr val="FFFFFF"/>
                </a:solidFill>
              </a:defRPr>
            </a:pPr>
            <a:r>
              <a:t>•   Simulated Action Execution: State machine simulating refunds, meal vouchers, lounge passes, and hotel transit.</a:t>
            </a:r>
          </a:p>
          <a:p>
            <a:pPr>
              <a:lnSpc>
                <a:spcPct val="125000"/>
              </a:lnSpc>
              <a:spcAft>
                <a:spcPts val="1400"/>
              </a:spcAft>
              <a:defRPr sz="1300">
                <a:solidFill>
                  <a:srgbClr val="FFFFFF"/>
                </a:solidFill>
              </a:defRPr>
            </a:pPr>
            <a:r>
              <a:t>•   Mandatory Escalation: Automated detection of 6 prohibited actions and authority boundary breaches.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2: THE BUSINESS PROBLEM</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Business Problem &amp; Customer Disruption Journey</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Turning High-Stress Disruption Moments into Grounded, Trustworthy Resolutions</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Customer Friction: Sudden cancellations and multi-hour delays cause intense frustration and urgent demands.</a:t>
            </a:r>
          </a:p>
          <a:p>
            <a:pPr>
              <a:lnSpc>
                <a:spcPct val="125000"/>
              </a:lnSpc>
              <a:spcAft>
                <a:spcPts val="1400"/>
              </a:spcAft>
              <a:defRPr sz="1300">
                <a:solidFill>
                  <a:srgbClr val="FFFFFF"/>
                </a:solidFill>
              </a:defRPr>
            </a:pPr>
            <a:r>
              <a:t>•   The Hallucination Danger: Generic AI chatbots frequently hallucinate non-existent seats, free business-class upgrades, or unapproved cash payouts.</a:t>
            </a:r>
          </a:p>
          <a:p>
            <a:pPr>
              <a:lnSpc>
                <a:spcPct val="125000"/>
              </a:lnSpc>
              <a:spcAft>
                <a:spcPts val="1400"/>
              </a:spcAft>
              <a:defRPr sz="1300">
                <a:solidFill>
                  <a:srgbClr val="FFFFFF"/>
                </a:solidFill>
              </a:defRPr>
            </a:pPr>
            <a:r>
              <a:t>•   Policy Complexity: Strict boundary conditions (e.g. 4h delay vs 6h delay; agent waiver limit of ₹1,500).</a:t>
            </a:r>
          </a:p>
          <a:p>
            <a:pPr>
              <a:lnSpc>
                <a:spcPct val="125000"/>
              </a:lnSpc>
              <a:spcAft>
                <a:spcPts val="1400"/>
              </a:spcAft>
              <a:defRPr sz="1300">
                <a:solidFill>
                  <a:srgbClr val="FFFFFF"/>
                </a:solidFill>
              </a:defRPr>
            </a:pPr>
            <a:r>
              <a:t>•   Privacy &amp; Compliance: Need strict isolation between passengers; no cross-customer data leakage.</a:t>
            </a:r>
          </a:p>
          <a:p>
            <a:pPr>
              <a:lnSpc>
                <a:spcPct val="125000"/>
              </a:lnSpc>
              <a:spcAft>
                <a:spcPts val="1400"/>
              </a:spcAft>
              <a:defRPr sz="1300">
                <a:solidFill>
                  <a:srgbClr val="FFFFFF"/>
                </a:solidFill>
              </a:defRPr>
            </a:pPr>
            <a:r>
              <a:t>•   Goal: Resolve what is permitted immediately, explain restrictions with empathy, and escalate out-of-policy demands.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3: SOLUTION ARCHITECTURE</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Solution Architecture Overview</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3-Pane Operations Console, Air-Gapped Policy Engine, and Live Audit Trail</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User Interface: Responsive 3-pane React console with 1-click test scenarios and live policy inspector.</a:t>
            </a:r>
          </a:p>
          <a:p>
            <a:pPr>
              <a:lnSpc>
                <a:spcPct val="125000"/>
              </a:lnSpc>
              <a:spcAft>
                <a:spcPts val="1400"/>
              </a:spcAft>
              <a:defRPr sz="1300">
                <a:solidFill>
                  <a:srgbClr val="FFFFFF"/>
                </a:solidFill>
              </a:defRPr>
            </a:pPr>
            <a:r>
              <a:t>•   Context Resolution: Hybrid Intent &amp; Entity Extractor identifying compound requests, sentiment, and PNR context.</a:t>
            </a:r>
          </a:p>
          <a:p>
            <a:pPr>
              <a:lnSpc>
                <a:spcPct val="125000"/>
              </a:lnSpc>
              <a:spcAft>
                <a:spcPts val="1400"/>
              </a:spcAft>
              <a:defRPr sz="1300">
                <a:solidFill>
                  <a:srgbClr val="FFFFFF"/>
                </a:solidFill>
              </a:defRPr>
            </a:pPr>
            <a:r>
              <a:t>•   Air-Gapped Policy Engine: Pure Python deterministic functions enforcing Sections 5.1 through 5.5.</a:t>
            </a:r>
          </a:p>
          <a:p>
            <a:pPr>
              <a:lnSpc>
                <a:spcPct val="125000"/>
              </a:lnSpc>
              <a:spcAft>
                <a:spcPts val="1400"/>
              </a:spcAft>
              <a:defRPr sz="1300">
                <a:solidFill>
                  <a:srgbClr val="FFFFFF"/>
                </a:solidFill>
              </a:defRPr>
            </a:pPr>
            <a:r>
              <a:t>•   Simulated Action Engine: Emits explicit simulated operations with unique tracking IDs.</a:t>
            </a:r>
          </a:p>
          <a:p>
            <a:pPr>
              <a:lnSpc>
                <a:spcPct val="125000"/>
              </a:lnSpc>
              <a:spcAft>
                <a:spcPts val="1400"/>
              </a:spcAft>
              <a:defRPr sz="1300">
                <a:solidFill>
                  <a:srgbClr val="FFFFFF"/>
                </a:solidFill>
              </a:defRPr>
            </a:pPr>
            <a:r>
              <a:t>•   Continuous Audit Trail: Every single turn records timestamp, intent, policy evaluated, decision, action, and citation.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4: AGENT WORKFLOW</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Detailed Process Flow &amp; State Management</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End-to-End Traceable Pipeline from Natural Language to Audit Record</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1. Intake: Customer message received; session state retrieved (PNR, active passenger).</a:t>
            </a:r>
          </a:p>
          <a:p>
            <a:pPr>
              <a:lnSpc>
                <a:spcPct val="125000"/>
              </a:lnSpc>
              <a:spcAft>
                <a:spcPts val="1400"/>
              </a:spcAft>
              <a:defRPr sz="1300">
                <a:solidFill>
                  <a:srgbClr val="FFFFFF"/>
                </a:solidFill>
              </a:defRPr>
            </a:pPr>
            <a:r>
              <a:t>•   2. Boundary Gateway: Validates passenger identity; rejects cross-passenger PNR queries immediately.</a:t>
            </a:r>
          </a:p>
          <a:p>
            <a:pPr>
              <a:lnSpc>
                <a:spcPct val="125000"/>
              </a:lnSpc>
              <a:spcAft>
                <a:spcPts val="1400"/>
              </a:spcAft>
              <a:defRPr sz="1300">
                <a:solidFill>
                  <a:srgbClr val="FFFFFF"/>
                </a:solidFill>
              </a:defRPr>
            </a:pPr>
            <a:r>
              <a:t>•   3. Multi-Intent Decomposition: Deconstructs compound inputs (e.g. 'Refund + Free Business Upgrade').</a:t>
            </a:r>
          </a:p>
          <a:p>
            <a:pPr>
              <a:lnSpc>
                <a:spcPct val="125000"/>
              </a:lnSpc>
              <a:spcAft>
                <a:spcPts val="1400"/>
              </a:spcAft>
              <a:defRPr sz="1300">
                <a:solidFill>
                  <a:srgbClr val="FFFFFF"/>
                </a:solidFill>
              </a:defRPr>
            </a:pPr>
            <a:r>
              <a:t>•   4. Policy Evaluation: Evaluates cancellation, delay thresholds, fare diff limits, and loyalty restrictions.</a:t>
            </a:r>
          </a:p>
          <a:p>
            <a:pPr>
              <a:lnSpc>
                <a:spcPct val="125000"/>
              </a:lnSpc>
              <a:spcAft>
                <a:spcPts val="1400"/>
              </a:spcAft>
              <a:defRPr sz="1300">
                <a:solidFill>
                  <a:srgbClr val="FFFFFF"/>
                </a:solidFill>
              </a:defRPr>
            </a:pPr>
            <a:r>
              <a:t>•   5. Action &amp; Escalation: Executes permitted actions; flags authority breaches (e.g. ₹2,000 waiver &gt; ₹1,500 limit).</a:t>
            </a:r>
          </a:p>
          <a:p>
            <a:pPr>
              <a:lnSpc>
                <a:spcPct val="125000"/>
              </a:lnSpc>
              <a:spcAft>
                <a:spcPts val="1400"/>
              </a:spcAft>
              <a:defRPr sz="1300">
                <a:solidFill>
                  <a:srgbClr val="FFFFFF"/>
                </a:solidFill>
              </a:defRPr>
            </a:pPr>
            <a:r>
              <a:t>•   6. Grounded Generation: Formulates concise, empathetic, non-defensive responses with citations.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5: POLICY ENGINE &amp; GUARDRAILS</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Deterministic Policy Engine &amp; Guardrails</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Authoritative Service Rules Codified in Pure, Mathematically Proven Python</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Section 5.1 (Cancellation): Free rebooking within 24h OR full refund. Never fabricates replacement flight numbers or seat availability.</a:t>
            </a:r>
          </a:p>
          <a:p>
            <a:pPr>
              <a:lnSpc>
                <a:spcPct val="125000"/>
              </a:lnSpc>
              <a:spcAft>
                <a:spcPts val="1400"/>
              </a:spcAft>
              <a:defRPr sz="1300">
                <a:solidFill>
                  <a:srgbClr val="FFFFFF"/>
                </a:solidFill>
              </a:defRPr>
            </a:pPr>
            <a:r>
              <a:t>•   Section 5.2 (Delay): &lt;3h: ₹500 meal voucher; 3h–5h (4h delay): meal + lounge, NO hotel; &gt;5h (6h delay): meal + lounge + hotel for delayed hours only (NO full night).</a:t>
            </a:r>
          </a:p>
          <a:p>
            <a:pPr>
              <a:lnSpc>
                <a:spcPct val="125000"/>
              </a:lnSpc>
              <a:spcAft>
                <a:spcPts val="1400"/>
              </a:spcAft>
              <a:defRPr sz="1300">
                <a:solidFill>
                  <a:srgbClr val="FFFFFF"/>
                </a:solidFill>
              </a:defRPr>
            </a:pPr>
            <a:r>
              <a:t>•   Section 5.3 (Refund): Processed in full within 7 business days, strictly to original payment method. No cash payouts.</a:t>
            </a:r>
          </a:p>
          <a:p>
            <a:pPr>
              <a:lnSpc>
                <a:spcPct val="125000"/>
              </a:lnSpc>
              <a:spcAft>
                <a:spcPts val="1400"/>
              </a:spcAft>
              <a:defRPr sz="1300">
                <a:solidFill>
                  <a:srgbClr val="FFFFFF"/>
                </a:solidFill>
              </a:defRPr>
            </a:pPr>
            <a:r>
              <a:t>•   Section 5.4 (Fare Difference): Customer pays fare diff. Agent limit: ≤ ₹1,500. Supervisor required if &gt; ₹1,500.</a:t>
            </a:r>
          </a:p>
          <a:p>
            <a:pPr>
              <a:lnSpc>
                <a:spcPct val="125000"/>
              </a:lnSpc>
              <a:spcAft>
                <a:spcPts val="1400"/>
              </a:spcAft>
              <a:defRPr sz="1300">
                <a:solidFill>
                  <a:srgbClr val="FFFFFF"/>
                </a:solidFill>
              </a:defRPr>
            </a:pPr>
            <a:r>
              <a:t>•   Section 5.5 (Loyalty Tier): Gold/Platinum get priority rebooking only. Absolutely NO extra compensation or free upgrades.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6: SCENARIO DEMONSTRATIONS</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The Three Mandatory Scenarios in Action</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Empirical Proof: Verified Correctness Across All Three Evaluation Journeys</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Scenario 1 — Priya Nair (Gold): Outbound SK-204 cancelled. Demands cash refund + return business class. Result: Full refund to original card in 7 days; return flight confirmed unaffected; upgrade denied &amp; escalated under Section 5.5.</a:t>
            </a:r>
          </a:p>
          <a:p>
            <a:pPr>
              <a:lnSpc>
                <a:spcPct val="125000"/>
              </a:lnSpc>
              <a:spcAft>
                <a:spcPts val="1400"/>
              </a:spcAft>
              <a:defRPr sz="1300">
                <a:solidFill>
                  <a:srgbClr val="FFFFFF"/>
                </a:solidFill>
              </a:defRPr>
            </a:pPr>
            <a:r>
              <a:t>•   Scenario 2 — Arvind Kulkarni (Silver): Flight SK-118 delayed 4h. Missed meeting, demands hotel. Result: Meal voucher + lounge access issued; hotel denied (&lt;5h threshold); empathetic tone without false escalation.</a:t>
            </a:r>
          </a:p>
          <a:p>
            <a:pPr>
              <a:lnSpc>
                <a:spcPct val="125000"/>
              </a:lnSpc>
              <a:spcAft>
                <a:spcPts val="1400"/>
              </a:spcAft>
              <a:defRPr sz="1300">
                <a:solidFill>
                  <a:srgbClr val="FFFFFF"/>
                </a:solidFill>
              </a:defRPr>
            </a:pPr>
            <a:r>
              <a:t>•   Scenario 3 — Meher Kaur (Platinum): Flight SK-305 delayed 6h. Demands full-night hotel + ₹2,000 fare waiver. Result: Meal + lounge + transit hotel for delayed hours issued; full night denied; ₹2,000 waiver escalated to supervisor.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7: AUDIT &amp; ESCALATION</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Audit Trail, Citations &amp; Prohibited Escalations</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Enterprise Compliance: Section 7.0 Enforcement and Full Replayability</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Prohibited Escalation Triggers: Legal action threats, formal regulatory complaints (DGCA), non-original payment requests, compensation exceeding policy, and fare difference waivers &gt; ₹1,500.</a:t>
            </a:r>
          </a:p>
          <a:p>
            <a:pPr>
              <a:lnSpc>
                <a:spcPct val="125000"/>
              </a:lnSpc>
              <a:spcAft>
                <a:spcPts val="1400"/>
              </a:spcAft>
              <a:defRPr sz="1300">
                <a:solidFill>
                  <a:srgbClr val="FFFFFF"/>
                </a:solidFill>
              </a:defRPr>
            </a:pPr>
            <a:r>
              <a:t>•   Zero Black Box: Every decision displays its authoritative policy citation directly on screen (e.g. 'Service Rules Section 5.2').</a:t>
            </a:r>
          </a:p>
          <a:p>
            <a:pPr>
              <a:lnSpc>
                <a:spcPct val="125000"/>
              </a:lnSpc>
              <a:spcAft>
                <a:spcPts val="1400"/>
              </a:spcAft>
              <a:defRPr sz="1300">
                <a:solidFill>
                  <a:srgbClr val="FFFFFF"/>
                </a:solidFill>
              </a:defRPr>
            </a:pPr>
            <a:r>
              <a:t>•   Immutable Audit Events: Captures timestamp, customer ID, PNR, raw prompt, parsed intents, evaluated decisions, and simulated action IDs.</a:t>
            </a:r>
          </a:p>
          <a:p>
            <a:pPr>
              <a:lnSpc>
                <a:spcPct val="125000"/>
              </a:lnSpc>
              <a:spcAft>
                <a:spcPts val="1400"/>
              </a:spcAft>
              <a:defRPr sz="1300">
                <a:solidFill>
                  <a:srgbClr val="FFFFFF"/>
                </a:solidFill>
              </a:defRPr>
            </a:pPr>
            <a:r>
              <a:t>•   Exportable Compliance Log: One-click export of complete audit log in standardized JSON format.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8: ADVERSARIAL DEFENCE</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Adversarial Robustness &amp; Safety Guardrails</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Defending Against Jailbreaks, Privacy Breaches, and Out-of-Policy Demands</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Adversarial Test 1 (Arbitrary Demands): 'Give me ₹10,000 compensation' -&gt; Refused; escalated as out-of-policy.</a:t>
            </a:r>
          </a:p>
          <a:p>
            <a:pPr>
              <a:lnSpc>
                <a:spcPct val="125000"/>
              </a:lnSpc>
              <a:spcAft>
                <a:spcPts val="1400"/>
              </a:spcAft>
              <a:defRPr sz="1300">
                <a:solidFill>
                  <a:srgbClr val="FFFFFF"/>
                </a:solidFill>
              </a:defRPr>
            </a:pPr>
            <a:r>
              <a:t>•   Adversarial Test 2 (Payment Hijack): 'Refund to friend's UPI account' -&gt; Denied under Section 5.3; original payment method enforced.</a:t>
            </a:r>
          </a:p>
          <a:p>
            <a:pPr>
              <a:lnSpc>
                <a:spcPct val="125000"/>
              </a:lnSpc>
              <a:spcAft>
                <a:spcPts val="1400"/>
              </a:spcAft>
              <a:defRPr sz="1300">
                <a:solidFill>
                  <a:srgbClr val="FFFFFF"/>
                </a:solidFill>
              </a:defRPr>
            </a:pPr>
            <a:r>
              <a:t>•   Adversarial Test 3 (Cross-Customer Privacy): 'What is Arvind's booking status?' -&gt; Denied at gateway; passenger data strictly isolated.</a:t>
            </a:r>
          </a:p>
          <a:p>
            <a:pPr>
              <a:lnSpc>
                <a:spcPct val="125000"/>
              </a:lnSpc>
              <a:spcAft>
                <a:spcPts val="1400"/>
              </a:spcAft>
              <a:defRPr sz="1300">
                <a:solidFill>
                  <a:srgbClr val="FFFFFF"/>
                </a:solidFill>
              </a:defRPr>
            </a:pPr>
            <a:r>
              <a:t>•   Adversarial Test 4 (Legal Pressure): 'I will sue in consumer court!' -&gt; Immediate expedited escalation ticket logged.</a:t>
            </a:r>
          </a:p>
          <a:p>
            <a:pPr>
              <a:lnSpc>
                <a:spcPct val="125000"/>
              </a:lnSpc>
              <a:spcAft>
                <a:spcPts val="1400"/>
              </a:spcAft>
              <a:defRPr sz="1300">
                <a:solidFill>
                  <a:srgbClr val="FFFFFF"/>
                </a:solidFill>
              </a:defRPr>
            </a:pPr>
            <a:r>
              <a:t>•   Adversarial Test 5 (Inventory Hallucination): Demands for specific alternative flight numbers -&gt; Refuses to fabricate inventory.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9: TECH STACK &amp; TESTING</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Technology Stack, AI Tools &amp; Quality Verification</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Production-Grade Engineering • 100% Passing Automated Tests</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Backend: Python 3.14 + FastAPI + Pydantic v2 (Strict Typing, Sub-millisecond execution).</a:t>
            </a:r>
          </a:p>
          <a:p>
            <a:pPr>
              <a:lnSpc>
                <a:spcPct val="125000"/>
              </a:lnSpc>
              <a:spcAft>
                <a:spcPts val="1400"/>
              </a:spcAft>
              <a:defRPr sz="1300">
                <a:solidFill>
                  <a:srgbClr val="FFFFFF"/>
                </a:solidFill>
              </a:defRPr>
            </a:pPr>
            <a:r>
              <a:t>•   Frontend: React 18 + Vite + Tailwind CSS (High-contrast 3-pane airline operations console).</a:t>
            </a:r>
          </a:p>
          <a:p>
            <a:pPr>
              <a:lnSpc>
                <a:spcPct val="125000"/>
              </a:lnSpc>
              <a:spcAft>
                <a:spcPts val="1400"/>
              </a:spcAft>
              <a:defRPr sz="1300">
                <a:solidFill>
                  <a:srgbClr val="FFFFFF"/>
                </a:solidFill>
              </a:defRPr>
            </a:pPr>
            <a:r>
              <a:t>•   Automated Test Suite: 27 comprehensive pytest tests covering unit, scenario, boundary, adversarial, and API endpoints (100% Pass).</a:t>
            </a:r>
          </a:p>
          <a:p>
            <a:pPr>
              <a:lnSpc>
                <a:spcPct val="125000"/>
              </a:lnSpc>
              <a:spcAft>
                <a:spcPts val="1400"/>
              </a:spcAft>
              <a:defRPr sz="1300">
                <a:solidFill>
                  <a:srgbClr val="FFFFFF"/>
                </a:solidFill>
              </a:defRPr>
            </a:pPr>
            <a:r>
              <a:t>•   Zero-Key Offline Mode: Embedded deterministic baseline ensures complete functionality with zero external API dependencies.</a:t>
            </a:r>
          </a:p>
          <a:p>
            <a:pPr>
              <a:lnSpc>
                <a:spcPct val="125000"/>
              </a:lnSpc>
              <a:spcAft>
                <a:spcPts val="1400"/>
              </a:spcAft>
              <a:defRPr sz="1300">
                <a:solidFill>
                  <a:srgbClr val="FFFFFF"/>
                </a:solidFill>
              </a:defRPr>
            </a:pPr>
            <a:r>
              <a:t>•   AI Tool Transparency: Built using Claude for architectural breakdown and Antigravity for implementation &amp; test orchestration.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spAutoFit/>
          </a:bodyPr>
          <a:lstStyle/>
          <a:p>
            <a:pPr>
              <a:defRPr sz="1100" b="1">
                <a:solidFill>
                  <a:srgbClr val="0284C7"/>
                </a:solidFill>
              </a:defRPr>
            </a:pPr>
            <a:r>
              <a:t>SLIDE 10: CONCLUSION &amp; FUTURE WORK</a:t>
            </a:r>
          </a:p>
        </p:txBody>
      </p:sp>
      <p:sp>
        <p:nvSpPr>
          <p:cNvPr id="3" name="TextBox 2"/>
          <p:cNvSpPr txBox="1"/>
          <p:nvPr/>
        </p:nvSpPr>
        <p:spPr>
          <a:xfrm>
            <a:off x="731520" y="777240"/>
            <a:ext cx="10515600" cy="731520"/>
          </a:xfrm>
          <a:prstGeom prst="rect">
            <a:avLst/>
          </a:prstGeom>
          <a:noFill/>
        </p:spPr>
        <p:txBody>
          <a:bodyPr wrap="square">
            <a:spAutoFit/>
          </a:bodyPr>
          <a:lstStyle/>
          <a:p>
            <a:pPr>
              <a:defRPr sz="2400" b="1">
                <a:solidFill>
                  <a:srgbClr val="FFFFFF"/>
                </a:solidFill>
              </a:defRPr>
            </a:pPr>
            <a:r>
              <a:t>Results, Limitations &amp; Production Roadmap</a:t>
            </a:r>
          </a:p>
        </p:txBody>
      </p:sp>
      <p:sp>
        <p:nvSpPr>
          <p:cNvPr id="4" name="TextBox 3"/>
          <p:cNvSpPr txBox="1"/>
          <p:nvPr/>
        </p:nvSpPr>
        <p:spPr>
          <a:xfrm>
            <a:off x="731520" y="1417320"/>
            <a:ext cx="10515600" cy="457200"/>
          </a:xfrm>
          <a:prstGeom prst="rect">
            <a:avLst/>
          </a:prstGeom>
          <a:noFill/>
        </p:spPr>
        <p:txBody>
          <a:bodyPr wrap="square">
            <a:spAutoFit/>
          </a:bodyPr>
          <a:lstStyle/>
          <a:p>
            <a:pPr>
              <a:defRPr sz="1300">
                <a:solidFill>
                  <a:srgbClr val="94A3B8"/>
                </a:solidFill>
              </a:defRPr>
            </a:pPr>
            <a:r>
              <a:t>Ready for Demonstration and Practical Enterprise Integration</a:t>
            </a:r>
          </a:p>
        </p:txBody>
      </p:sp>
      <p:sp>
        <p:nvSpPr>
          <p:cNvPr id="5" name="Rectangle 4"/>
          <p:cNvSpPr/>
          <p:nvPr/>
        </p:nvSpPr>
        <p:spPr>
          <a:xfrm>
            <a:off x="731520" y="2011680"/>
            <a:ext cx="10728655" cy="4297680"/>
          </a:xfrm>
          <a:prstGeom prst="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931920"/>
          </a:xfrm>
          <a:prstGeom prst="rect">
            <a:avLst/>
          </a:prstGeom>
          <a:noFill/>
        </p:spPr>
        <p:txBody>
          <a:bodyPr wrap="square">
            <a:spAutoFit/>
          </a:bodyPr>
          <a:lstStyle/>
          <a:p>
            <a:pPr>
              <a:lnSpc>
                <a:spcPct val="125000"/>
              </a:lnSpc>
              <a:spcAft>
                <a:spcPts val="1400"/>
              </a:spcAft>
              <a:defRPr sz="1300">
                <a:solidFill>
                  <a:srgbClr val="FFFFFF"/>
                </a:solidFill>
              </a:defRPr>
            </a:pPr>
            <a:r>
              <a:t>•   Results: Delivered a small, credible, production-style customer resolution agent fully aligned with the AIONOS brief.</a:t>
            </a:r>
          </a:p>
          <a:p>
            <a:pPr>
              <a:lnSpc>
                <a:spcPct val="125000"/>
              </a:lnSpc>
              <a:spcAft>
                <a:spcPts val="1400"/>
              </a:spcAft>
              <a:defRPr sz="1300">
                <a:solidFill>
                  <a:srgbClr val="FFFFFF"/>
                </a:solidFill>
              </a:defRPr>
            </a:pPr>
            <a:r>
              <a:t>•   Current Limitations: Flight inventory is simulated (no real GDS connection); authentication uses demo customer selector.</a:t>
            </a:r>
          </a:p>
          <a:p>
            <a:pPr>
              <a:lnSpc>
                <a:spcPct val="125000"/>
              </a:lnSpc>
              <a:spcAft>
                <a:spcPts val="1400"/>
              </a:spcAft>
              <a:defRPr sz="1300">
                <a:solidFill>
                  <a:srgbClr val="FFFFFF"/>
                </a:solidFill>
              </a:defRPr>
            </a:pPr>
            <a:r>
              <a:t>•   Roadmap Phase 1: Real-time GDS integration (Amadeus / Sabre APIs for live seat inventory).</a:t>
            </a:r>
          </a:p>
          <a:p>
            <a:pPr>
              <a:lnSpc>
                <a:spcPct val="125000"/>
              </a:lnSpc>
              <a:spcAft>
                <a:spcPts val="1400"/>
              </a:spcAft>
              <a:defRPr sz="1300">
                <a:solidFill>
                  <a:srgbClr val="FFFFFF"/>
                </a:solidFill>
              </a:defRPr>
            </a:pPr>
            <a:r>
              <a:t>•   Roadmap Phase 2: OpenTelemetry distributed tracing and production SMS/WhatsApp notification channels.</a:t>
            </a:r>
          </a:p>
          <a:p>
            <a:pPr>
              <a:lnSpc>
                <a:spcPct val="125000"/>
              </a:lnSpc>
              <a:spcAft>
                <a:spcPts val="1400"/>
              </a:spcAft>
              <a:defRPr sz="1300">
                <a:solidFill>
                  <a:srgbClr val="FFFFFF"/>
                </a:solidFill>
              </a:defRPr>
            </a:pPr>
            <a:r>
              <a:t>•   Summary: Demonstrates how agentic AI can be deployed safely, deterministically, and explainably in high-stakes enterprise workflows.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